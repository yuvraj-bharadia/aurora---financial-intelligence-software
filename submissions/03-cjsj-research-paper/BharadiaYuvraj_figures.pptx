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r>
              <a:t>Figures and Tables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rPr sz="1600"/>
              <a:t>When Does a Forecasting Model Actually Work?</a:t>
            </a:r>
          </a:p>
          <a:p>
            <a:r>
              <a:rPr sz="1600"/>
              <a:t>Yuvraj Bharadia  ·  CJSJ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62" y="150000"/>
            <a:ext cx="8291475" cy="41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4414350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6202B"/>
                </a:solidFill>
                <a:latin typeface="Times New Roman"/>
              </a:rPr>
              <a:t>Figure 1.  </a:t>
            </a:r>
            <a:r>
              <a:rPr sz="1200">
                <a:solidFill>
                  <a:srgbClr val="16202B"/>
                </a:solidFill>
                <a:latin typeface="Times New Roman"/>
              </a:rPr>
              <a:t>Seven-layer architecture. Each layer can be disabled independently, which is how the contribution of each was measured.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9" y="150000"/>
            <a:ext cx="8255182" cy="41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4414350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6202B"/>
                </a:solidFill>
                <a:latin typeface="Times New Roman"/>
              </a:rPr>
              <a:t>Figure 2.  </a:t>
            </a:r>
            <a:r>
              <a:rPr sz="1200">
                <a:solidFill>
                  <a:srgbClr val="16202B"/>
                </a:solidFill>
                <a:latin typeface="Times New Roman"/>
              </a:rPr>
              <a:t>Aggregate forecast error by model, in index points, averaged over the three horizons and pooled across folds and seeds. Lower is better.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386909"/>
            <a:ext cx="8520600" cy="37061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4414350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6202B"/>
                </a:solidFill>
                <a:latin typeface="Times New Roman"/>
              </a:rPr>
              <a:t>Figure 3.  </a:t>
            </a:r>
            <a:r>
              <a:rPr sz="1200">
                <a:solidFill>
                  <a:srgbClr val="16202B"/>
                </a:solidFill>
                <a:latin typeface="Times New Roman"/>
              </a:rPr>
              <a:t>Standard deviation of twenty-day RMSE across three random seeds, in index points. Lower indicates a result that depends less on initialisation.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289006"/>
            <a:ext cx="8520600" cy="39019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4414350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6202B"/>
                </a:solidFill>
                <a:latin typeface="Times New Roman"/>
              </a:rPr>
              <a:t>Figure 4.  </a:t>
            </a:r>
            <a:r>
              <a:rPr sz="1200">
                <a:solidFill>
                  <a:srgbClr val="16202B"/>
                </a:solidFill>
                <a:latin typeface="Times New Roman"/>
              </a:rPr>
              <a:t>Empirical coverage of prediction intervals against a 90% target, overall and within each market state, with interval half-widths.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b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19" y="150000"/>
            <a:ext cx="7090361" cy="4179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4414350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6202B"/>
                </a:solidFill>
                <a:latin typeface="Times New Roman"/>
              </a:rPr>
              <a:t>Table I.  </a:t>
            </a:r>
            <a:r>
              <a:rPr sz="1200">
                <a:solidFill>
                  <a:srgbClr val="16202B"/>
                </a:solidFill>
                <a:latin typeface="Times New Roman"/>
              </a:rPr>
              <a:t>Study protocol and fixed parameters. Every value was set before any modelling and held constant across all models and folds.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b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68" y="150000"/>
            <a:ext cx="7706064" cy="41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4414350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6202B"/>
                </a:solidFill>
                <a:latin typeface="Times New Roman"/>
              </a:rPr>
              <a:t>Table II.  </a:t>
            </a:r>
            <a:r>
              <a:rPr sz="1200">
                <a:solidFill>
                  <a:srgbClr val="16202B"/>
                </a:solidFill>
                <a:latin typeface="Times New Roman"/>
              </a:rPr>
              <a:t>Aggregate root mean squared error in index points, with the standard deviation of twenty-day RMSE across three random seeds.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b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731774"/>
            <a:ext cx="8520600" cy="30164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4414350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6202B"/>
                </a:solidFill>
                <a:latin typeface="Times New Roman"/>
              </a:rPr>
              <a:t>Table III.  </a:t>
            </a:r>
            <a:r>
              <a:rPr sz="1200">
                <a:solidFill>
                  <a:srgbClr val="16202B"/>
                </a:solidFill>
                <a:latin typeface="Times New Roman"/>
              </a:rPr>
              <a:t>One-factor-at-a-time ablation. Each row disables a single layer with seeds, folds and hyper-parameters held fixed.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bl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560951"/>
            <a:ext cx="8520600" cy="33580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4414350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16202B"/>
                </a:solidFill>
                <a:latin typeface="Times New Roman"/>
              </a:rPr>
              <a:t>Table IV.  </a:t>
            </a:r>
            <a:r>
              <a:rPr sz="1200">
                <a:solidFill>
                  <a:srgbClr val="16202B"/>
                </a:solidFill>
                <a:latin typeface="Times New Roman"/>
              </a:rPr>
              <a:t>Selection instability. For each fold and horizon, the model ranked first on validation data compared with the model ranked first on the subsequent test block.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